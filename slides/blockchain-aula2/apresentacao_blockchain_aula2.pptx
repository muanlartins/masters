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182880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4000" b="1">
                <a:solidFill>
                  <a:srgbClr val="1F2937"/>
                </a:solidFill>
                <a:latin typeface="Helvetica"/>
              </a:rPr>
              <a:t>Da moeda ao</a:t>
            </a:r>
          </a:p>
          <a:p>
            <a:pPr algn="ctr">
              <a:spcBef>
                <a:spcPts val="1400"/>
              </a:spcBef>
            </a:pPr>
            <a:r>
              <a:rPr sz="4000" b="1">
                <a:solidFill>
                  <a:srgbClr val="1F2937"/>
                </a:solidFill>
                <a:latin typeface="Helvetica"/>
              </a:rPr>
              <a:t>computador-mundo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94415" cy="201168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2200" b="0">
                <a:solidFill>
                  <a:srgbClr val="1F2937"/>
                </a:solidFill>
                <a:latin typeface="Helvetica"/>
              </a:rPr>
              <a:t>Programação Avançada  ·  6º período</a:t>
            </a:r>
          </a:p>
          <a:p>
            <a:pPr algn="ctr">
              <a:spcBef>
                <a:spcPts val="1400"/>
              </a:spcBef>
            </a:pPr>
            <a:r>
              <a:rPr sz="2000" b="0">
                <a:solidFill>
                  <a:srgbClr val="6B7280"/>
                </a:solidFill>
                <a:latin typeface="Helvetica"/>
              </a:rPr>
              <a:t>Aula 2 de 2</a:t>
            </a:r>
          </a:p>
          <a:p>
            <a:pPr algn="ctr">
              <a:spcBef>
                <a:spcPts val="1400"/>
              </a:spcBef>
            </a:pPr>
            <a:r>
              <a:rPr sz="1800" b="0">
                <a:solidFill>
                  <a:srgbClr val="1F77B4"/>
                </a:solidFill>
                <a:latin typeface="Helvetica"/>
              </a:rPr>
              <a:t>contratos inteligentes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37160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Helvetica"/>
              </a:rPr>
              <a:t>Recap: o que a Aula 1 deixou pronto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elvetica"/>
              </a:rPr>
              <a:t>Na Aula 1, um livro de moedas; e se cada entrada guardasse código?</a:t>
            </a:r>
          </a:p>
        </p:txBody>
      </p:sp>
      <p:pic>
        <p:nvPicPr>
          <p:cNvPr id="4" name="Picture 3" descr="diagram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60" y="1554480"/>
            <a:ext cx="8886575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2CA02C"/>
                </a:solidFill>
                <a:latin typeface="Helvetica"/>
              </a:rPr>
              <a:t>o mesmo consenso da Aula 1 — mas agora o que se registra pode ser código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elvetica"/>
              </a:rPr>
              <a:t>Uma conta é um estado; uma transação é uma transição de estado</a:t>
            </a:r>
          </a:p>
        </p:txBody>
      </p:sp>
      <p:pic>
        <p:nvPicPr>
          <p:cNvPr id="4" name="Picture 3" descr="diagram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36" y="1645920"/>
            <a:ext cx="922302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300" b="1">
                <a:solidFill>
                  <a:srgbClr val="1F2937"/>
                </a:solidFill>
                <a:latin typeface="Helvetica"/>
              </a:rPr>
              <a:t>Todo nó roda o mesmo código e concorda no resultado: um computador-mundo</a:t>
            </a:r>
          </a:p>
        </p:txBody>
      </p:sp>
      <p:pic>
        <p:nvPicPr>
          <p:cNvPr id="4" name="Picture 3" descr="diagram_world_comp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68" y="1600200"/>
            <a:ext cx="8521758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F77B4"/>
                </a:solidFill>
                <a:latin typeface="Helvetica"/>
              </a:rPr>
              <a:t>no Bitcoin a rede concorda no mesmo saldo; aqui ela concorda no mesmo resultado de cada execução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37160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Helvetica"/>
              </a:rPr>
              <a:t>Contratos inteligentes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Helvetica"/>
              </a:rPr>
              <a:t>Um contrato é código que mora na rede e se cumpre sozinho</a:t>
            </a:r>
          </a:p>
        </p:txBody>
      </p:sp>
      <p:pic>
        <p:nvPicPr>
          <p:cNvPr id="4" name="Picture 3" descr="diagram_v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66" y="1463040"/>
            <a:ext cx="9052762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elvetica"/>
              </a:rPr>
              <a:t>O que ele não consegue: enxergar qualquer coisa de fora da rede</a:t>
            </a:r>
          </a:p>
        </p:txBody>
      </p:sp>
      <p:pic>
        <p:nvPicPr>
          <p:cNvPr id="4" name="Picture 3" descr="diagram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296" y="1463040"/>
            <a:ext cx="8755102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elvetica"/>
              </a:rPr>
              <a:t>Cada passo de código custa gas — é o que impede o loop infinito</a:t>
            </a:r>
          </a:p>
        </p:txBody>
      </p:sp>
      <p:pic>
        <p:nvPicPr>
          <p:cNvPr id="4" name="Picture 3" descr="fig_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72" y="1417320"/>
            <a:ext cx="886015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FF7F0E"/>
                </a:solidFill>
                <a:latin typeface="Helvetica"/>
              </a:rPr>
              <a:t>sem preço, um while(true) travaria milhares de nós; é o gas que impõe um fim a toda execução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37160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Helvetica"/>
              </a:rPr>
              <a:t>Mãos à obra: contratos rodando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elvetica"/>
              </a:rPr>
              <a:t>Counter: toda escrita é uma transação; toda leitura é de graça</a:t>
            </a:r>
          </a:p>
        </p:txBody>
      </p:sp>
      <p:pic>
        <p:nvPicPr>
          <p:cNvPr id="4" name="Picture 3" descr="diagram_cou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778" y="1554480"/>
            <a:ext cx="7878139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32290" y="365760"/>
            <a:ext cx="2010765" cy="384048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300" b="1">
                <a:solidFill>
                  <a:srgbClr val="1F77B4"/>
                </a:solidFill>
                <a:latin typeface="Helvetica"/>
              </a:rPr>
              <a:t>▶ demo · Remix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6B7280"/>
                </a:solidFill>
                <a:latin typeface="Helvetica"/>
              </a:rPr>
              <a:t>increment = transação (gasta gas, vira bloco) · ler count = call (grátis) · decrement em 0 → revert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elvetica"/>
              </a:rPr>
              <a:t>Escrow: confiança programável — só o árbitro libera o dinheiro</a:t>
            </a:r>
          </a:p>
        </p:txBody>
      </p:sp>
      <p:pic>
        <p:nvPicPr>
          <p:cNvPr id="4" name="Picture 3" descr="diagram_esc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25" y="1554480"/>
            <a:ext cx="8473244" cy="37490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32290" y="365760"/>
            <a:ext cx="2010765" cy="384048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300" b="1">
                <a:solidFill>
                  <a:srgbClr val="1F77B4"/>
                </a:solidFill>
                <a:latin typeface="Helvetica"/>
              </a:rPr>
              <a:t>▶ demo · Remix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2CA02C"/>
                </a:solidFill>
                <a:latin typeface="Helvetica"/>
              </a:rPr>
              <a:t>payable/msg.value: o contrato guarda 1 ETH; nem comprador nem vendedor mexem — só o árbitro decide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94415" cy="128016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4600" b="1">
                <a:solidFill>
                  <a:srgbClr val="1F2937"/>
                </a:solidFill>
                <a:latin typeface="Helvetica"/>
              </a:rPr>
              <a:t>Intervalo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11880"/>
            <a:ext cx="11094415" cy="73152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2400" b="0">
                <a:solidFill>
                  <a:srgbClr val="6B7280"/>
                </a:solidFill>
                <a:latin typeface="Helvetica"/>
              </a:rPr>
              <a:t>~10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1094415" cy="73152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1800" b="0">
                <a:solidFill>
                  <a:srgbClr val="D62728"/>
                </a:solidFill>
                <a:latin typeface="Helvetica"/>
              </a:rPr>
              <a:t>na volta: o bug de 60 milhões de dólares — quando o contrato certo faz a coisa errada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37160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Helvetica"/>
              </a:rPr>
              <a:t>O bug de 60 milhões de dólares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Helvetica"/>
              </a:rPr>
              <a:t>Reentrância: o atacante volta a sacar antes de o saldo zerar</a:t>
            </a:r>
          </a:p>
        </p:txBody>
      </p:sp>
      <p:pic>
        <p:nvPicPr>
          <p:cNvPr id="4" name="Picture 3" descr="diagram_reentr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25" y="1554480"/>
            <a:ext cx="8473244" cy="37490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32290" y="365760"/>
            <a:ext cx="2010765" cy="384048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300" b="1">
                <a:solidFill>
                  <a:srgbClr val="1F77B4"/>
                </a:solidFill>
                <a:latin typeface="Helvetica"/>
              </a:rPr>
              <a:t>▶ demo · Remix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D62728"/>
                </a:solidFill>
                <a:latin typeface="Helvetica"/>
              </a:rPr>
              <a:t>o withdraw envia o ETH antes de zerar o saldo; o receive() do atacante reentra e saca de novo — depositou 1, levou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Helvetica"/>
              </a:rPr>
              <a:t>A correção é uma linha: zere o saldo antes de enviar</a:t>
            </a:r>
          </a:p>
        </p:txBody>
      </p:sp>
      <p:pic>
        <p:nvPicPr>
          <p:cNvPr id="4" name="Picture 3" descr="diagram_checks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070" y="1600200"/>
            <a:ext cx="8579555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2CA02C"/>
                </a:solidFill>
                <a:latin typeface="Helvetica"/>
              </a:rPr>
              <a:t>checks-effects-interactions: mude o estado antes de chamar para fora — a única diferença é a ordem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300" b="1">
                <a:solidFill>
                  <a:srgbClr val="1F2937"/>
                </a:solidFill>
                <a:latin typeface="Helvetica"/>
              </a:rPr>
              <a:t>Imutabilidade corta dos dois lados: desfazer o roubo exigiu bifurcar a rede</a:t>
            </a:r>
          </a:p>
        </p:txBody>
      </p:sp>
      <p:pic>
        <p:nvPicPr>
          <p:cNvPr id="4" name="Picture 3" descr="diagram_f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070" y="1554480"/>
            <a:ext cx="8579555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6B7280"/>
                </a:solidFill>
                <a:latin typeface="Helvetica"/>
              </a:rPr>
              <a:t>a cadeia é imutável → o roubo ficou gravado; a comunidade bifurcou: Ethereum (desfez) e Ethereum Classic (manteve)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37160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Helvetica"/>
              </a:rPr>
              <a:t>Isto existe de verdade, numa rede pública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Helvetica"/>
              </a:rPr>
              <a:t>No Etherscan, o mesmo contrato é público, verificado e permanente</a:t>
            </a:r>
          </a:p>
        </p:txBody>
      </p:sp>
      <p:pic>
        <p:nvPicPr>
          <p:cNvPr id="4" name="Picture 3" descr="diagram_ether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302" y="1554480"/>
            <a:ext cx="8075090" cy="37490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543593" y="365760"/>
            <a:ext cx="2099462" cy="384048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300" b="1">
                <a:solidFill>
                  <a:srgbClr val="1F77B4"/>
                </a:solidFill>
                <a:latin typeface="Helvetica"/>
              </a:rPr>
              <a:t>▶ demo · Etherscan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F77B4"/>
                </a:solidFill>
                <a:latin typeface="Helvetica"/>
              </a:rPr>
              <a:t>o escrow da aula, mas movendo bilhões: código verificado, leitura sem carteira, eventos gravados pra sempre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Helvetica"/>
              </a:rPr>
              <a:t>Uma transferência de token: 0 ETH movido, milhares de dólares dentro de uma chamada</a:t>
            </a:r>
          </a:p>
        </p:txBody>
      </p:sp>
      <p:pic>
        <p:nvPicPr>
          <p:cNvPr id="4" name="Picture 3" descr="diagram_erc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302" y="1554480"/>
            <a:ext cx="8075090" cy="37490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543593" y="365760"/>
            <a:ext cx="2099462" cy="384048"/>
          </a:xfrm>
          <a:prstGeom prst="roundRect">
            <a:avLst/>
          </a:prstGeom>
          <a:solidFill>
            <a:srgbClr val="E8F1FA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1300" b="1">
                <a:solidFill>
                  <a:srgbClr val="1F77B4"/>
                </a:solidFill>
                <a:latin typeface="Helvetica"/>
              </a:rPr>
              <a:t>▶ demo · Etherscan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6B7280"/>
                </a:solidFill>
                <a:latin typeface="Helvetica"/>
              </a:rPr>
              <a:t>Value = 0 ETH, mas a seção de tokens mostra a transferência: o dinheiro andou dentro de transfer()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371600"/>
          </a:xfrm>
          <a:prstGeom prst="rect">
            <a:avLst/>
          </a:prstGeom>
          <a:noFill/>
        </p:spPr>
        <p:txBody>
          <a:bodyPr wrap="square" anchor="ctr" lIns="0" tIns="0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Helvetica"/>
              </a:rPr>
              <a:t>Você precisa mesmo de blockchain?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Helvetica"/>
              </a:rPr>
              <a:t>A árvore de decisão de Wüst–Gervais</a:t>
            </a:r>
          </a:p>
        </p:txBody>
      </p:sp>
      <p:pic>
        <p:nvPicPr>
          <p:cNvPr id="4" name="Picture 3" descr="fig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322" y="1371600"/>
            <a:ext cx="941705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Helvetica"/>
              </a:rPr>
              <a:t>Três casos do dia a dia na mesma árvore</a:t>
            </a:r>
          </a:p>
        </p:txBody>
      </p:sp>
      <p:pic>
        <p:nvPicPr>
          <p:cNvPr id="4" name="Picture 3" descr="diagram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92" y="1600200"/>
            <a:ext cx="8679911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1F2937"/>
                </a:solidFill>
                <a:latin typeface="Helvetica"/>
              </a:rPr>
              <a:t>só o caso do meio — sem dono e sem confiança — realmente precisa de blockchain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Helvetica"/>
              </a:rPr>
              <a:t>Blockchain resolve um problema: concordar sem confiar. Havendo confiança, o simples vence.</a:t>
            </a:r>
          </a:p>
        </p:txBody>
      </p:sp>
      <p:pic>
        <p:nvPicPr>
          <p:cNvPr id="4" name="Picture 3" descr="fig_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54" y="1554480"/>
            <a:ext cx="9437986" cy="4480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