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548639" y="2204719"/>
            <a:ext cx="11002977" cy="139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40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Blockchain, do zero:</a:t>
            </a:r>
          </a:p>
          <a:p>
            <a:pPr algn="ctr">
              <a:spcBef>
                <a:spcPts val="1400"/>
              </a:spcBef>
              <a:defRPr b="1" sz="40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Por que ela existe?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548639" y="4691379"/>
            <a:ext cx="11002977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22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Programação Avançada  ·  6º período</a:t>
            </a:r>
          </a:p>
          <a:p>
            <a:pPr algn="ctr">
              <a:spcBef>
                <a:spcPts val="1400"/>
              </a:spcBef>
              <a:defRPr sz="2000">
                <a:solidFill>
                  <a:srgbClr val="6B7280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Aula 1 de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2"/>
          <p:cNvSpPr txBox="1"/>
          <p:nvPr/>
        </p:nvSpPr>
        <p:spPr>
          <a:xfrm>
            <a:off x="548639" y="310895"/>
            <a:ext cx="11002977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A representação do dinheiro digital</a:t>
            </a:r>
          </a:p>
        </p:txBody>
      </p:sp>
      <p:pic>
        <p:nvPicPr>
          <p:cNvPr id="10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59925" y="1737360"/>
            <a:ext cx="7071844" cy="3931921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TextBox 4"/>
          <p:cNvSpPr txBox="1"/>
          <p:nvPr/>
        </p:nvSpPr>
        <p:spPr>
          <a:xfrm>
            <a:off x="588162" y="1321141"/>
            <a:ext cx="11002976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2000">
                <a:solidFill>
                  <a:srgbClr val="6B728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O problema do gasto duplo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2"/>
          <p:cNvSpPr txBox="1"/>
          <p:nvPr/>
        </p:nvSpPr>
        <p:spPr>
          <a:xfrm>
            <a:off x="548639" y="310895"/>
            <a:ext cx="11002977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Banco (de dados) como fonte da verdade </a:t>
            </a:r>
          </a:p>
        </p:txBody>
      </p:sp>
      <p:pic>
        <p:nvPicPr>
          <p:cNvPr id="10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99128" y="1554480"/>
            <a:ext cx="7393439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TextBox 4"/>
          <p:cNvSpPr txBox="1"/>
          <p:nvPr/>
        </p:nvSpPr>
        <p:spPr>
          <a:xfrm>
            <a:off x="588162" y="5379720"/>
            <a:ext cx="11002976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2000">
                <a:solidFill>
                  <a:srgbClr val="2CA02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um banco de dados comum (um dono) resolve o gasto-duplo na hora</a:t>
            </a:r>
          </a:p>
        </p:txBody>
      </p:sp>
      <p:sp>
        <p:nvSpPr>
          <p:cNvPr id="107" name="TextBox 5"/>
          <p:cNvSpPr txBox="1"/>
          <p:nvPr/>
        </p:nvSpPr>
        <p:spPr>
          <a:xfrm>
            <a:off x="594359" y="5943600"/>
            <a:ext cx="11002976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>
                <a:solidFill>
                  <a:srgbClr val="D6272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mas vira ponto único de confiança · censura · falha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2"/>
          <p:cNvSpPr txBox="1"/>
          <p:nvPr/>
        </p:nvSpPr>
        <p:spPr>
          <a:xfrm>
            <a:off x="548639" y="310895"/>
            <a:ext cx="1100297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7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Solução: Tira o banco, todo mundo guarda uma cópia do livro</a:t>
            </a:r>
          </a:p>
        </p:txBody>
      </p:sp>
      <p:pic>
        <p:nvPicPr>
          <p:cNvPr id="11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42156" y="1417319"/>
            <a:ext cx="6907382" cy="3840481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TextBox 4"/>
          <p:cNvSpPr txBox="1"/>
          <p:nvPr/>
        </p:nvSpPr>
        <p:spPr>
          <a:xfrm>
            <a:off x="594359" y="5440679"/>
            <a:ext cx="11002976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2000">
                <a:solidFill>
                  <a:srgbClr val="6B728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todos guardam uma cópia do mesmo livro</a:t>
            </a:r>
          </a:p>
        </p:txBody>
      </p:sp>
      <p:sp>
        <p:nvSpPr>
          <p:cNvPr id="113" name="TextBox 5"/>
          <p:cNvSpPr txBox="1"/>
          <p:nvPr/>
        </p:nvSpPr>
        <p:spPr>
          <a:xfrm>
            <a:off x="594359" y="5943600"/>
            <a:ext cx="11002976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>
                <a:solidFill>
                  <a:srgbClr val="D6272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mas como milhares de cópias concordam sobre o que entrou?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2"/>
          <p:cNvSpPr txBox="1"/>
          <p:nvPr/>
        </p:nvSpPr>
        <p:spPr>
          <a:xfrm>
            <a:off x="548639" y="3145789"/>
            <a:ext cx="11002977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4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Antes, duas peças de criptografia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TextBox 2"/>
          <p:cNvSpPr txBox="1"/>
          <p:nvPr/>
        </p:nvSpPr>
        <p:spPr>
          <a:xfrm>
            <a:off x="548639" y="310895"/>
            <a:ext cx="11002977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Funções Hash</a:t>
            </a:r>
          </a:p>
        </p:txBody>
      </p:sp>
      <p:pic>
        <p:nvPicPr>
          <p:cNvPr id="12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" y="1600200"/>
            <a:ext cx="11094416" cy="436654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3" name="Rounded Rectangle 4"/>
          <p:cNvGrpSpPr/>
          <p:nvPr/>
        </p:nvGrpSpPr>
        <p:grpSpPr>
          <a:xfrm>
            <a:off x="9311334" y="365759"/>
            <a:ext cx="2331721" cy="384049"/>
            <a:chOff x="0" y="0"/>
            <a:chExt cx="2331720" cy="384047"/>
          </a:xfrm>
        </p:grpSpPr>
        <p:sp>
          <p:nvSpPr>
            <p:cNvPr id="121" name="Rounded Rectangle"/>
            <p:cNvSpPr/>
            <p:nvPr/>
          </p:nvSpPr>
          <p:spPr>
            <a:xfrm>
              <a:off x="0" y="0"/>
              <a:ext cx="2331721" cy="384048"/>
            </a:xfrm>
            <a:prstGeom prst="roundRect">
              <a:avLst>
                <a:gd name="adj" fmla="val 16667"/>
              </a:avLst>
            </a:prstGeom>
            <a:solidFill>
              <a:srgbClr val="E8F1FA"/>
            </a:solidFill>
            <a:ln w="15875" cap="flat">
              <a:solidFill>
                <a:srgbClr val="1F77B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2" name="▶ demo · Anders /hash"/>
            <p:cNvSpPr txBox="1"/>
            <p:nvPr/>
          </p:nvSpPr>
          <p:spPr>
            <a:xfrm>
              <a:off x="236759" y="70563"/>
              <a:ext cx="1858202" cy="2429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 algn="ctr">
                <a:defRPr b="1" sz="1300">
                  <a:solidFill>
                    <a:srgbClr val="1F77B4"/>
                  </a:solidFill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pPr/>
              <a:r>
                <a:t>▶ demo · Anders /hash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2"/>
          <p:cNvSpPr txBox="1"/>
          <p:nvPr/>
        </p:nvSpPr>
        <p:spPr>
          <a:xfrm>
            <a:off x="548639" y="310895"/>
            <a:ext cx="11002977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Assinatura digital</a:t>
            </a:r>
          </a:p>
        </p:txBody>
      </p:sp>
      <p:pic>
        <p:nvPicPr>
          <p:cNvPr id="12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98825" y="1554480"/>
            <a:ext cx="8794044" cy="374904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0" name="Rounded Rectangle 4"/>
          <p:cNvGrpSpPr/>
          <p:nvPr/>
        </p:nvGrpSpPr>
        <p:grpSpPr>
          <a:xfrm>
            <a:off x="8745322" y="365759"/>
            <a:ext cx="2897734" cy="384049"/>
            <a:chOff x="0" y="0"/>
            <a:chExt cx="2897733" cy="384047"/>
          </a:xfrm>
        </p:grpSpPr>
        <p:sp>
          <p:nvSpPr>
            <p:cNvPr id="128" name="Rounded Rectangle"/>
            <p:cNvSpPr/>
            <p:nvPr/>
          </p:nvSpPr>
          <p:spPr>
            <a:xfrm>
              <a:off x="0" y="0"/>
              <a:ext cx="2897734" cy="384048"/>
            </a:xfrm>
            <a:prstGeom prst="roundRect">
              <a:avLst>
                <a:gd name="adj" fmla="val 16667"/>
              </a:avLst>
            </a:prstGeom>
            <a:solidFill>
              <a:srgbClr val="E8F1FA"/>
            </a:solidFill>
            <a:ln w="15875" cap="flat">
              <a:solidFill>
                <a:srgbClr val="1F77B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9" name="▶ demo · Anders /signatures"/>
            <p:cNvSpPr txBox="1"/>
            <p:nvPr/>
          </p:nvSpPr>
          <p:spPr>
            <a:xfrm>
              <a:off x="294970" y="70563"/>
              <a:ext cx="2307793" cy="2429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 algn="ctr">
                <a:defRPr b="1" sz="1300">
                  <a:solidFill>
                    <a:srgbClr val="1F77B4"/>
                  </a:solidFill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pPr/>
              <a:r>
                <a:t>▶ demo · Anders /signatures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TextBox 2"/>
          <p:cNvSpPr txBox="1"/>
          <p:nvPr/>
        </p:nvSpPr>
        <p:spPr>
          <a:xfrm>
            <a:off x="548639" y="3145789"/>
            <a:ext cx="11002977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4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A “chain” de “blocks”: “blockchain”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2"/>
          <p:cNvSpPr txBox="1"/>
          <p:nvPr/>
        </p:nvSpPr>
        <p:spPr>
          <a:xfrm>
            <a:off x="548639" y="310895"/>
            <a:ext cx="11002977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Usando Hashes para prevenir fraudes</a:t>
            </a:r>
          </a:p>
        </p:txBody>
      </p:sp>
      <p:grpSp>
        <p:nvGrpSpPr>
          <p:cNvPr id="139" name="Rounded Rectangle 4"/>
          <p:cNvGrpSpPr/>
          <p:nvPr/>
        </p:nvGrpSpPr>
        <p:grpSpPr>
          <a:xfrm>
            <a:off x="8745322" y="365759"/>
            <a:ext cx="2897734" cy="384049"/>
            <a:chOff x="0" y="0"/>
            <a:chExt cx="2897733" cy="384047"/>
          </a:xfrm>
        </p:grpSpPr>
        <p:sp>
          <p:nvSpPr>
            <p:cNvPr id="137" name="Rounded Rectangle"/>
            <p:cNvSpPr/>
            <p:nvPr/>
          </p:nvSpPr>
          <p:spPr>
            <a:xfrm>
              <a:off x="0" y="0"/>
              <a:ext cx="2897734" cy="384048"/>
            </a:xfrm>
            <a:prstGeom prst="roundRect">
              <a:avLst>
                <a:gd name="adj" fmla="val 16667"/>
              </a:avLst>
            </a:prstGeom>
            <a:solidFill>
              <a:srgbClr val="E8F1FA"/>
            </a:solidFill>
            <a:ln w="15875" cap="flat">
              <a:solidFill>
                <a:srgbClr val="1F77B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8" name="▶ demo · Anders /blockchain"/>
            <p:cNvSpPr txBox="1"/>
            <p:nvPr/>
          </p:nvSpPr>
          <p:spPr>
            <a:xfrm>
              <a:off x="281225" y="70563"/>
              <a:ext cx="2335283" cy="2429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 algn="ctr">
                <a:defRPr b="1" sz="1300">
                  <a:solidFill>
                    <a:srgbClr val="1F77B4"/>
                  </a:solidFill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pPr/>
              <a:r>
                <a:t>▶ demo · Anders /blockchain</a:t>
              </a:r>
            </a:p>
          </p:txBody>
        </p:sp>
      </p:grpSp>
      <p:pic>
        <p:nvPicPr>
          <p:cNvPr id="14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06069" y="1554480"/>
            <a:ext cx="8579557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extBox 5"/>
          <p:cNvSpPr txBox="1"/>
          <p:nvPr/>
        </p:nvSpPr>
        <p:spPr>
          <a:xfrm>
            <a:off x="594359" y="5440679"/>
            <a:ext cx="11002976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2000">
                <a:solidFill>
                  <a:srgbClr val="6B728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cada bloco guarda o hash do anterior</a:t>
            </a:r>
          </a:p>
        </p:txBody>
      </p:sp>
      <p:sp>
        <p:nvSpPr>
          <p:cNvPr id="142" name="TextBox 6"/>
          <p:cNvSpPr txBox="1"/>
          <p:nvPr/>
        </p:nvSpPr>
        <p:spPr>
          <a:xfrm>
            <a:off x="594359" y="5943600"/>
            <a:ext cx="11002976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>
                <a:solidFill>
                  <a:srgbClr val="D6272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mexeu em um → o elo não bate e todos os seguintes quebram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2"/>
          <p:cNvSpPr txBox="1"/>
          <p:nvPr/>
        </p:nvSpPr>
        <p:spPr>
          <a:xfrm>
            <a:off x="548639" y="310895"/>
            <a:ext cx="11002977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Minerar é achar o Nonce certo</a:t>
            </a:r>
          </a:p>
        </p:txBody>
      </p:sp>
      <p:grpSp>
        <p:nvGrpSpPr>
          <p:cNvPr id="148" name="Rounded Rectangle 4"/>
          <p:cNvGrpSpPr/>
          <p:nvPr/>
        </p:nvGrpSpPr>
        <p:grpSpPr>
          <a:xfrm>
            <a:off x="8567928" y="365759"/>
            <a:ext cx="3075128" cy="384049"/>
            <a:chOff x="0" y="0"/>
            <a:chExt cx="3075127" cy="384047"/>
          </a:xfrm>
        </p:grpSpPr>
        <p:sp>
          <p:nvSpPr>
            <p:cNvPr id="146" name="Rounded Rectangle"/>
            <p:cNvSpPr/>
            <p:nvPr/>
          </p:nvSpPr>
          <p:spPr>
            <a:xfrm>
              <a:off x="0" y="0"/>
              <a:ext cx="3075128" cy="384048"/>
            </a:xfrm>
            <a:prstGeom prst="roundRect">
              <a:avLst>
                <a:gd name="adj" fmla="val 16667"/>
              </a:avLst>
            </a:prstGeom>
            <a:solidFill>
              <a:srgbClr val="E8F1FA"/>
            </a:solidFill>
            <a:ln w="15875" cap="flat">
              <a:solidFill>
                <a:srgbClr val="1F77B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7" name="▶ demo · Anders /block + Mine"/>
            <p:cNvSpPr txBox="1"/>
            <p:nvPr/>
          </p:nvSpPr>
          <p:spPr>
            <a:xfrm>
              <a:off x="303414" y="70563"/>
              <a:ext cx="2468299" cy="2429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 algn="ctr">
                <a:defRPr b="1" sz="1300">
                  <a:solidFill>
                    <a:srgbClr val="1F77B4"/>
                  </a:solidFill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pPr/>
              <a:r>
                <a:t>▶ demo · Anders /block + Mine</a:t>
              </a:r>
            </a:p>
          </p:txBody>
        </p:sp>
      </p:grpSp>
      <p:pic>
        <p:nvPicPr>
          <p:cNvPr id="14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56778" y="1508760"/>
            <a:ext cx="7878140" cy="3657601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TextBox 5"/>
          <p:cNvSpPr txBox="1"/>
          <p:nvPr/>
        </p:nvSpPr>
        <p:spPr>
          <a:xfrm>
            <a:off x="594359" y="5440679"/>
            <a:ext cx="11002976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2000">
                <a:solidFill>
                  <a:srgbClr val="6B728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sem atalho: testa nonce após nonce até o hash começar com 0000</a:t>
            </a:r>
          </a:p>
        </p:txBody>
      </p:sp>
      <p:sp>
        <p:nvSpPr>
          <p:cNvPr id="151" name="TextBox 6"/>
          <p:cNvSpPr txBox="1"/>
          <p:nvPr/>
        </p:nvSpPr>
        <p:spPr>
          <a:xfrm>
            <a:off x="594359" y="5943600"/>
            <a:ext cx="11002976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>
                <a:solidFill>
                  <a:srgbClr val="FF7F0E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esse trabalho é o que vai custar energia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2"/>
          <p:cNvSpPr txBox="1"/>
          <p:nvPr/>
        </p:nvSpPr>
        <p:spPr>
          <a:xfrm>
            <a:off x="548639" y="3145789"/>
            <a:ext cx="11002977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4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Quem escolhe o próximo bloco?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2"/>
          <p:cNvSpPr txBox="1"/>
          <p:nvPr/>
        </p:nvSpPr>
        <p:spPr>
          <a:xfrm>
            <a:off x="548639" y="310895"/>
            <a:ext cx="11002976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Num bando de desconhecidos, em quem você confia?</a:t>
            </a:r>
          </a:p>
        </p:txBody>
      </p:sp>
      <p:pic>
        <p:nvPicPr>
          <p:cNvPr id="15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56778" y="1554480"/>
            <a:ext cx="7878140" cy="36576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1" name="Rounded Rectangle 4"/>
          <p:cNvGrpSpPr/>
          <p:nvPr/>
        </p:nvGrpSpPr>
        <p:grpSpPr>
          <a:xfrm>
            <a:off x="9277502" y="365759"/>
            <a:ext cx="2365553" cy="384049"/>
            <a:chOff x="0" y="0"/>
            <a:chExt cx="2365551" cy="384047"/>
          </a:xfrm>
        </p:grpSpPr>
        <p:sp>
          <p:nvSpPr>
            <p:cNvPr id="159" name="Rounded Rectangle"/>
            <p:cNvSpPr/>
            <p:nvPr/>
          </p:nvSpPr>
          <p:spPr>
            <a:xfrm>
              <a:off x="0" y="0"/>
              <a:ext cx="2365552" cy="384048"/>
            </a:xfrm>
            <a:prstGeom prst="roundRect">
              <a:avLst>
                <a:gd name="adj" fmla="val 16667"/>
              </a:avLst>
            </a:prstGeom>
            <a:solidFill>
              <a:srgbClr val="E8F1FA"/>
            </a:solidFill>
            <a:ln w="15875" cap="flat">
              <a:solidFill>
                <a:srgbClr val="1F77B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0" name="▶ roleplay · Generais"/>
            <p:cNvSpPr txBox="1"/>
            <p:nvPr/>
          </p:nvSpPr>
          <p:spPr>
            <a:xfrm>
              <a:off x="323850" y="70563"/>
              <a:ext cx="1717851" cy="2429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18288" tIns="18288" rIns="18288" bIns="18288" numCol="1" anchor="ctr">
              <a:spAutoFit/>
            </a:bodyPr>
            <a:lstStyle>
              <a:lvl1pPr algn="ctr">
                <a:defRPr b="1" sz="1300">
                  <a:solidFill>
                    <a:srgbClr val="1F77B4"/>
                  </a:solidFill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pPr/>
              <a:r>
                <a:t>▶ roleplay · Generais</a:t>
              </a:r>
            </a:p>
          </p:txBody>
        </p:sp>
      </p:grpSp>
      <p:sp>
        <p:nvSpPr>
          <p:cNvPr id="162" name="TextBox 5"/>
          <p:cNvSpPr txBox="1"/>
          <p:nvPr/>
        </p:nvSpPr>
        <p:spPr>
          <a:xfrm>
            <a:off x="594359" y="5440679"/>
            <a:ext cx="11002976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 sz="2000">
                <a:solidFill>
                  <a:srgbClr val="6B728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o traidor conta versões diferentes para cada general</a:t>
            </a:r>
          </a:p>
        </p:txBody>
      </p:sp>
      <p:sp>
        <p:nvSpPr>
          <p:cNvPr id="163" name="TextBox 6"/>
          <p:cNvSpPr txBox="1"/>
          <p:nvPr/>
        </p:nvSpPr>
        <p:spPr>
          <a:xfrm>
            <a:off x="594359" y="5943600"/>
            <a:ext cx="11002976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i="1">
                <a:solidFill>
                  <a:srgbClr val="D6272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ninguém sabe quem mente → só resolve com mais de 2/3 honestos (3f+1)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TextBox 2"/>
          <p:cNvSpPr txBox="1"/>
          <p:nvPr/>
        </p:nvSpPr>
        <p:spPr>
          <a:xfrm>
            <a:off x="548639" y="2553970"/>
            <a:ext cx="11002976" cy="698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6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Intervalo</a:t>
            </a:r>
          </a:p>
        </p:txBody>
      </p:sp>
      <p:sp>
        <p:nvSpPr>
          <p:cNvPr id="167" name="TextBox 3"/>
          <p:cNvSpPr txBox="1"/>
          <p:nvPr/>
        </p:nvSpPr>
        <p:spPr>
          <a:xfrm>
            <a:off x="548639" y="3770629"/>
            <a:ext cx="110029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6B7280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~10 min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TextBox 2"/>
          <p:cNvSpPr txBox="1"/>
          <p:nvPr/>
        </p:nvSpPr>
        <p:spPr>
          <a:xfrm>
            <a:off x="548639" y="3145789"/>
            <a:ext cx="11002977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4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A resposta de 2008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2"/>
          <p:cNvSpPr txBox="1"/>
          <p:nvPr/>
        </p:nvSpPr>
        <p:spPr>
          <a:xfrm>
            <a:off x="548639" y="310895"/>
            <a:ext cx="11002977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Proof of Work</a:t>
            </a:r>
          </a:p>
        </p:txBody>
      </p:sp>
      <p:pic>
        <p:nvPicPr>
          <p:cNvPr id="174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43798" y="1600200"/>
            <a:ext cx="9704098" cy="46634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2"/>
          <p:cNvSpPr txBox="1"/>
          <p:nvPr/>
        </p:nvSpPr>
        <p:spPr>
          <a:xfrm>
            <a:off x="548639" y="3145790"/>
            <a:ext cx="11002976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4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Abrindo o capô: as peças, por dentro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2"/>
          <p:cNvSpPr txBox="1"/>
          <p:nvPr/>
        </p:nvSpPr>
        <p:spPr>
          <a:xfrm>
            <a:off x="548639" y="310895"/>
            <a:ext cx="1100297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5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Árvores de Merkle</a:t>
            </a:r>
          </a:p>
        </p:txBody>
      </p:sp>
      <p:pic>
        <p:nvPicPr>
          <p:cNvPr id="18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2423" y="1014944"/>
            <a:ext cx="11394454" cy="53118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extBox 2"/>
          <p:cNvSpPr txBox="1"/>
          <p:nvPr/>
        </p:nvSpPr>
        <p:spPr>
          <a:xfrm>
            <a:off x="548639" y="310895"/>
            <a:ext cx="110029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Cabeçalho dos blocos</a:t>
            </a:r>
          </a:p>
        </p:txBody>
      </p:sp>
      <p:pic>
        <p:nvPicPr>
          <p:cNvPr id="18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3174" y="1204623"/>
            <a:ext cx="11472952" cy="52614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2"/>
          <p:cNvSpPr txBox="1"/>
          <p:nvPr/>
        </p:nvSpPr>
        <p:spPr>
          <a:xfrm>
            <a:off x="548639" y="310895"/>
            <a:ext cx="110029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A matemática da mineração</a:t>
            </a:r>
          </a:p>
        </p:txBody>
      </p:sp>
      <p:pic>
        <p:nvPicPr>
          <p:cNvPr id="18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8869" y="1337908"/>
            <a:ext cx="10641562" cy="51276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2"/>
          <p:cNvSpPr txBox="1"/>
          <p:nvPr/>
        </p:nvSpPr>
        <p:spPr>
          <a:xfrm>
            <a:off x="548639" y="310895"/>
            <a:ext cx="1100297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5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Mantendo a produção de blocos estável</a:t>
            </a:r>
          </a:p>
        </p:txBody>
      </p:sp>
      <p:pic>
        <p:nvPicPr>
          <p:cNvPr id="193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6529" y="1293123"/>
            <a:ext cx="10466242" cy="50431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2"/>
          <p:cNvSpPr txBox="1"/>
          <p:nvPr/>
        </p:nvSpPr>
        <p:spPr>
          <a:xfrm>
            <a:off x="548639" y="310895"/>
            <a:ext cx="1100297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7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Vence a cadeia com mais trabalho acumulado</a:t>
            </a:r>
          </a:p>
        </p:txBody>
      </p:sp>
      <p:pic>
        <p:nvPicPr>
          <p:cNvPr id="19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0213" y="795066"/>
            <a:ext cx="11798874" cy="56852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TextBox 2"/>
          <p:cNvSpPr txBox="1"/>
          <p:nvPr/>
        </p:nvSpPr>
        <p:spPr>
          <a:xfrm>
            <a:off x="548639" y="310895"/>
            <a:ext cx="1100297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5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Tentativas de corromper a chain</a:t>
            </a:r>
          </a:p>
        </p:txBody>
      </p:sp>
      <p:pic>
        <p:nvPicPr>
          <p:cNvPr id="201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44350" y="1292558"/>
            <a:ext cx="8290600" cy="517702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TextBox 2"/>
          <p:cNvSpPr txBox="1"/>
          <p:nvPr/>
        </p:nvSpPr>
        <p:spPr>
          <a:xfrm>
            <a:off x="548639" y="310895"/>
            <a:ext cx="11002976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O Bitcoin majoritariamente juntou peças</a:t>
            </a:r>
          </a:p>
        </p:txBody>
      </p:sp>
      <p:pic>
        <p:nvPicPr>
          <p:cNvPr id="20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8161" y="1342463"/>
            <a:ext cx="10982978" cy="53544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TextBox 2"/>
          <p:cNvSpPr txBox="1"/>
          <p:nvPr/>
        </p:nvSpPr>
        <p:spPr>
          <a:xfrm>
            <a:off x="548639" y="3145789"/>
            <a:ext cx="11002977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4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Quanto custa esse consenso?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TextBox 2"/>
          <p:cNvSpPr txBox="1"/>
          <p:nvPr/>
        </p:nvSpPr>
        <p:spPr>
          <a:xfrm>
            <a:off x="548639" y="310895"/>
            <a:ext cx="11002977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6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Esse consenso gasta a eletricidade de um país inteiro</a:t>
            </a:r>
          </a:p>
        </p:txBody>
      </p:sp>
      <p:pic>
        <p:nvPicPr>
          <p:cNvPr id="21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74549" y="1691639"/>
            <a:ext cx="6842595" cy="44805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" name="TextBox 2"/>
          <p:cNvSpPr txBox="1"/>
          <p:nvPr/>
        </p:nvSpPr>
        <p:spPr>
          <a:xfrm>
            <a:off x="548639" y="310895"/>
            <a:ext cx="11002977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8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E faz ~7 transações por segundo, não 65 mil</a:t>
            </a:r>
          </a:p>
        </p:txBody>
      </p:sp>
      <p:pic>
        <p:nvPicPr>
          <p:cNvPr id="21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85203" y="1691639"/>
            <a:ext cx="6821288" cy="44805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" name="TextBox 2"/>
          <p:cNvSpPr txBox="1"/>
          <p:nvPr/>
        </p:nvSpPr>
        <p:spPr>
          <a:xfrm>
            <a:off x="548639" y="310895"/>
            <a:ext cx="11002977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500">
                <a:solidFill>
                  <a:srgbClr val="1F2937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Construímos um livro de moedas. E se ele guardasse código?</a:t>
            </a:r>
          </a:p>
        </p:txBody>
      </p:sp>
      <p:pic>
        <p:nvPicPr>
          <p:cNvPr id="22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56742" y="1600200"/>
            <a:ext cx="9678211" cy="46634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